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JobPilot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D4F1"/>
                </a:solidFill>
                <a:latin typeface="Calibri"/>
              </a:rPr>
              <a:t>Autonomous AI Job Hunting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B4D1"/>
                </a:solidFill>
                <a:latin typeface="Calibri"/>
              </a:rPr>
              <a:t>Find Jobs  ·  Match with ML  ·  Research HR  ·  Send Personalized Outreach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23360"/>
            <a:ext cx="11274552" cy="5080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143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Multi-Agent AI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Browser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26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ML Job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✉️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886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Personalized Outreach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Calibri"/>
              </a:rP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00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0A0C0"/>
                </a:solidFill>
                <a:latin typeface="Calibri"/>
              </a:rPr>
              <a:t>Rohit  |  Data Scientist · AI Engineer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Job hunting is repetitive, manual &amp; time-consuming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1945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2-3 hrs/week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Search Job Portals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86000"/>
            <a:ext cx="19751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80"/>
                </a:solidFill>
                <a:latin typeface="Calibri"/>
              </a:rPr>
              <a:t>LinkedIn · Indeed · Naukri — checking each manually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41732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417320"/>
            <a:ext cx="21945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53619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2-3 hrs/week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202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Evaluate JD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286000"/>
            <a:ext cx="19751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80"/>
                </a:solidFill>
                <a:latin typeface="Calibri"/>
              </a:rPr>
              <a:t>Reading every description to check if skills 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41732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417320"/>
            <a:ext cx="21945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53619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1-2 hrs/week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202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Find HR Contacts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2286000"/>
            <a:ext cx="19751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80"/>
                </a:solidFill>
                <a:latin typeface="Calibri"/>
              </a:rPr>
              <a:t>Manually searching LinkedIn for the right person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19" y="141732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60919" y="1417320"/>
            <a:ext cx="21945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153619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2-3 hrs/week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19202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Write Cold Emails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7" y="2286000"/>
            <a:ext cx="19751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80"/>
                </a:solidFill>
                <a:latin typeface="Calibri"/>
              </a:rPr>
              <a:t>Generic templates get ignored; custom ones are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417320"/>
            <a:ext cx="21945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1417320"/>
            <a:ext cx="219456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53619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5A82"/>
                </a:solidFill>
                <a:latin typeface="Calibri"/>
              </a:rPr>
              <a:t>1 hr/week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19202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295C"/>
                </a:solidFill>
                <a:latin typeface="Calibri"/>
              </a:rPr>
              <a:t>Track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2367" y="2286000"/>
            <a:ext cx="197510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80"/>
                </a:solidFill>
                <a:latin typeface="Calibri"/>
              </a:rPr>
              <a:t>Spreadsheets, reminders, follow-up chaos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1143000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27939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Total: 8–12 hours every week on repetitive, formulaic tasks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37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7293"/>
                </a:solidFill>
                <a:latin typeface="Calibri"/>
              </a:rPr>
              <a:t>JobPilot AI automates 90%+ of this — so you focus on interviews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JobPilot AI — A Multi-Agent System That Runs on Your Laptop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📄 Resume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85623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Parse PDF/DOCX resume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Extract 25+ structured fields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Build semantic skill profile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417320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08760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🔍 Job Discovery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Opens LinkedIn/Indeed/Naukri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No API needed — real browser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Searches as a human would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08760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🤖 ML Matching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5623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4-signal weighted scoring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Semantic + skill + exp + domain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Cosine similarity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91839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291839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383279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👥 HR Research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73075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Finds HR/recruiter contacts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Searches LinkedIn directly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Company + role specific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291839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291839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383279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✉️  Outreach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73075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Personalized cold emails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LinkedIn DMs and connections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LLM-written, not templates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3291839"/>
            <a:ext cx="365760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291839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383279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🔒 Human-in-the-Loop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730752"/>
            <a:ext cx="3438144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ALL sends need YOUR approval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Review + edit before sending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B0D4F1"/>
                </a:solidFill>
                <a:latin typeface="Calibri"/>
              </a:rPr>
              <a:t>• Zero spam, full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11430000" cy="841248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Interface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82296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Streamlit UI  ·  FastAPI REST API  ·  MCP Server (Claude Desktop)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19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80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11430000" cy="8412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82880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JobPilotOrchestrator — pipeline coordinator &amp; state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80"/>
                </a:solidFill>
                <a:latin typeface="Calibr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1430000" cy="8412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3464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JobDiscoveryAgent  ·  HRResearchAgent  ·  OutreachAgent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6576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80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11430000" cy="841248"/>
          </a:xfrm>
          <a:prstGeom prst="rect">
            <a:avLst/>
          </a:prstGeom>
          <a:solidFill>
            <a:srgbClr val="1A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Browser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84048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Playwright + browser-use  ·  LinkedIn  ·  Gmail  ·  Job Portals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634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06080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1430000" cy="841248"/>
          </a:xfrm>
          <a:prstGeom prst="rect">
            <a:avLst/>
          </a:prstGeom>
          <a:solidFill>
            <a:srgbClr val="14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Core ML +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846320"/>
            <a:ext cx="8961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sentence-transformers  ·  scikit-learn  ·  ChromaDB  ·  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5A82"/>
                </a:solidFill>
                <a:latin typeface="Calibri"/>
              </a:rPr>
              <a:t>Provider-agnostic LLM via LiteLLM  ·  Runs 100% locally  ·  SQLite + ChromaDB (zero config)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ML MATCHING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4-Signal Weighted Scoring  —  Final Score = 0–1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4114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Semantic
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42032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F1"/>
                </a:solidFill>
                <a:latin typeface="Calibri"/>
              </a:rPr>
              <a:t>Cosine similarity of
sentence-transformer
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20440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F0FF"/>
                </a:solidFill>
                <a:latin typeface="Calibri"/>
              </a:rPr>
              <a:t>Captures meaning beyond
keywords — 'ML Engineer'
matches 'Data Scientist'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651760" cy="4114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4813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299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Skill
Overlap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542032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F1"/>
                </a:solidFill>
                <a:latin typeface="Calibri"/>
              </a:rPr>
              <a:t>Normalized Jaccard with
partial string matching
+ preferred skill bonus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520440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F0FF"/>
                </a:solidFill>
                <a:latin typeface="Calibri"/>
              </a:rPr>
              <a:t>Most important signal —
matches explicit skill
requirements in the JD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371600"/>
            <a:ext cx="2651760" cy="4114800"/>
          </a:xfrm>
          <a:prstGeom prst="rect">
            <a:avLst/>
          </a:prstGeom>
          <a:solidFill>
            <a:srgbClr val="1A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813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0299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Experience
Match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542032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F1"/>
                </a:solidFill>
                <a:latin typeface="Calibri"/>
              </a:rPr>
              <a:t>Linear penalty for under
or over-qualification
(-20%/yr under, -5%/yr over)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520440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F0FF"/>
                </a:solidFill>
                <a:latin typeface="Calibri"/>
              </a:rPr>
              <a:t>Balances fresh grad vs
senior role requirements
without hard cutoffs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2651760" cy="4114800"/>
          </a:xfrm>
          <a:prstGeom prst="rect">
            <a:avLst/>
          </a:prstGeom>
          <a:solidFill>
            <a:srgbClr val="14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137160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148132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02996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Domain
Relevance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0848" y="2542032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D4F1"/>
                </a:solidFill>
                <a:latin typeface="Calibri"/>
              </a:rPr>
              <a:t>Semantic similarity of
domain/industry keywords
(FinTech, HealthTech etc.)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0848" y="3520440"/>
            <a:ext cx="2432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0F0FF"/>
                </a:solidFill>
                <a:latin typeface="Calibri"/>
              </a:rPr>
              <a:t>Ensures industry-specific
roles match candidate's
background 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332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Final Score  =  0.30 × Semantic  +  0.40 × Skill  +  0.15 × Experience  +  0.15 ×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1554480" cy="1691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Parse Resume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PDF/DOCX → CandidateProfile
25+ structured fields via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65960" y="777240"/>
            <a:ext cx="1554480" cy="1691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Discover Jobs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AI browser opens LinkedIn,
Indeed, Naukri and extracts JDs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777240"/>
            <a:ext cx="1554480" cy="1691640"/>
          </a:xfrm>
          <a:prstGeom prst="rect">
            <a:avLst/>
          </a:prstGeom>
          <a:solidFill>
            <a:srgbClr val="1A6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ML Matching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4-signal scoring engine
ranks all jobs by relevance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9240" y="777240"/>
            <a:ext cx="1554480" cy="1691640"/>
          </a:xfrm>
          <a:prstGeom prst="rect">
            <a:avLst/>
          </a:prstGeom>
          <a:solidFill>
            <a:srgbClr val="145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924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068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HR 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LinkedIn agent finds
HR/recruiter contacts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777240"/>
            <a:ext cx="1554480" cy="1691640"/>
          </a:xfrm>
          <a:prstGeom prst="rect">
            <a:avLst/>
          </a:prstGeom>
          <a:solidFill>
            <a:srgbClr val="0F5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Gen Outreach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LLM writes personalized
email &amp; LinkedIn messages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32520" y="777240"/>
            <a:ext cx="1554480" cy="16916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Review &amp; 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567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YOU review every message
before anything is sent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5288" y="12801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60" y="777240"/>
            <a:ext cx="1554480" cy="1691640"/>
          </a:xfrm>
          <a:prstGeom prst="rect">
            <a:avLst/>
          </a:prstGeom>
          <a:solidFill>
            <a:srgbClr val="007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24160" y="777240"/>
            <a:ext cx="155448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0" y="8686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7312" y="1261872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7312" y="1609344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0E8F8"/>
                </a:solidFill>
                <a:latin typeface="Calibri"/>
              </a:rPr>
              <a:t>Browser opens Gmail/LinkedIn
and sends approved messages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743200"/>
            <a:ext cx="54864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2743200"/>
            <a:ext cx="54864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" y="2834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Browser-Use: The AI Browser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32004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Instead of fragile CSS selectors that break when LinkedIn redesigns, the agent receives natural language instructions:
"Search Data Scientist jobs in Bangalore on LinkedIn and extract top 20 with full JDs"
The agent navigates, clicks, scrolls and extracts — adapting to UI changes automatically.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2743200"/>
            <a:ext cx="576072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2743200"/>
            <a:ext cx="576072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28346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Human-in-the-Loop: Why It Matters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3200400"/>
            <a:ext cx="5577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• All messages land in PENDING_REVIEW status
• Review + edit each message in Streamlit UI
• Approve sends it · Skip discards it
• Enforced in code — PermissionError if bypassed
• Protects you legally (CAN-SPAM / LinkedIn ToS)
• Ensures quality — no generic spam 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265176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8961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Core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FastAPI — REST 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48255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Pydantic v2 — data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9806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SQLAlchemy — async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547872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SQLite — local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79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Streamlit — web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777240"/>
            <a:ext cx="265176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8961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/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2984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LiteLLM — provider-agnostic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048255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OpenAI / Claude / Groq /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279806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sentence-transformers —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547872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all-MiniLM-L6-v2 — 384-dim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4297679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ChromaDB — vector store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777240"/>
            <a:ext cx="265176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8961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Browser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2984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Playwright — browser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048255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browser-use — AI browser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79806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LinkedIn, Indeed, Naukri, Gmail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3547872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Headless or visible browser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4297679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No scraping APIs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777240"/>
            <a:ext cx="2651760" cy="5029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8961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ML /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0848" y="1298448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scikit-learn — cosine 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0848" y="2048255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numpy — vector math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0848" y="2798063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pandas — data processing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3547872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plotly — interactive 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0848" y="4297679"/>
            <a:ext cx="24323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8F0"/>
                </a:solidFill>
                <a:latin typeface="Calibri"/>
              </a:rPr>
              <a:t>• Custom 4-signal scorer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B4D1"/>
                </a:solidFill>
                <a:latin typeface="Calibri"/>
              </a:rPr>
              <a:t>100% open source  ·  Runs on any laptop  ·  No cloud dependency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OUTREACH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0292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0292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869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Three Outreach 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4663440" cy="12801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📧 Cold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0992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150–200 words · Personalized subject + body · References candidate skills &amp; company specifics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4663440" cy="12801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260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🔗 LinkedIn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300 char limit · Connection request with personalised note · Best for cold contacts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434840"/>
            <a:ext cx="4663440" cy="12801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8055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💬 LinkedIn DM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18888"/>
            <a:ext cx="4389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Up to 150 words · Direct message for existing connections · More casual 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777240"/>
            <a:ext cx="6217920" cy="5394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777240"/>
            <a:ext cx="621792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88696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Example Generated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298448"/>
            <a:ext cx="5943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0E8F8"/>
                </a:solidFill>
                <a:latin typeface="Calibri"/>
              </a:rPr>
              <a:t>Subject: Senior Data Scientist Opportunity — Your NLP Work
Hi Priya,
I came across the Senior Data Scientist role at Meesho and was excited to see the focus on NLP-powered recommendation systems — I've built similar pipelines at my current role using BERT and PyTorch.
Quick background: I'm a Data Scientist with 4 years of experience in NLP, recommender systems, and ML infrastructure (Python, Spark, AWS). My last project reduced model inference latency by 40% while improving accuracy.
Would love 15 minutes to learn about the team's challenges and share how I can contribute. Happy to send my resume if useful.
Best,
Rohit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6355080"/>
            <a:ext cx="11430000" cy="3200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7336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⚠️  All messages reviewed and approved by YOU before sending  ·  CAN-SPAM &amp; LinkedIn ToS compliant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ANALYTICS &amp;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77240"/>
            <a:ext cx="26517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886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Job Market
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63040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D8F0"/>
                </a:solidFill>
                <a:latin typeface="Calibri"/>
              </a:rPr>
              <a:t>Top demanded skills
Location distribution
Company hiring trends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777240"/>
            <a:ext cx="26517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886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Match Score
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1463040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D8F0"/>
                </a:solidFill>
                <a:latin typeface="Calibri"/>
              </a:rPr>
              <a:t>Score distribution
Percentile ranking
Skill gap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77240"/>
            <a:ext cx="26517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886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Outreach
Funnel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463040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D8F0"/>
                </a:solidFill>
                <a:latin typeface="Calibri"/>
              </a:rPr>
              <a:t>Drafted → Sent → Replied
Reply rate tracking
By channel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777240"/>
            <a:ext cx="26517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777240"/>
            <a:ext cx="2651760" cy="73152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88696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1463040"/>
            <a:ext cx="24323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D8F0"/>
                </a:solidFill>
                <a:latin typeface="Calibri"/>
              </a:rPr>
              <a:t>Upskilling suggestions
Email style insights
Best time to reach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40"/>
            <a:ext cx="11430000" cy="2651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291840"/>
            <a:ext cx="11430000" cy="731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Sample Search Run Statistics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Jobs Discovered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Above 65%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HR Contacts Found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Outreach Drafted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76%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Avg Match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7947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7E"/>
                </a:solidFill>
                <a:latin typeface="Calibri"/>
              </a:rPr>
              <a:t>22%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31596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D8F0"/>
                </a:solidFill>
                <a:latin typeface="Calibri"/>
              </a:rPr>
              <a:t>Reply Rate (target)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1447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B4D1"/>
                </a:solidFill>
                <a:latin typeface="Calibri"/>
              </a:rPr>
              <a:t>Streamlit dashboard  ·  Plotly charts  ·  SQLite persistence  ·  Actionable skill-gap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SETUP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A0C8E0"/>
                </a:solidFill>
                <a:latin typeface="Calibr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30352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530352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869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Setup in 5 Minutes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353312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371600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389888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103120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121408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396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playwright install chromium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852928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871216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88950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cp .env.example .env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602736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3621024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63931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Add your LLM API key (OpenAI / Claude / Groq / Ollama)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352544"/>
            <a:ext cx="347472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4370831"/>
            <a:ext cx="3291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389120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streamlit run ui/streamlit_app.py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LLM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5486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11480" y="5486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11480" y="5486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1480" y="5486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943600" y="777240"/>
            <a:ext cx="5943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777240"/>
            <a:ext cx="5943600" cy="731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8869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Future Roadmap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2984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🔥 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1298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Auto follow-up scheduler (N days after no reply)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19019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🔥 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1901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Interview prep agent — auto-research company post-reply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5054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🔥 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25054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Multi-language resume &amp; outreach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31089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🟡 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14032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Salary benchmarking &amp; negotiation 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71246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🟡 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7124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A/B testing outreach templates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3159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🟡 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Referral network finder via mutual connections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9194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🔵 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14032" y="4919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Calendar integration — schedule interview slots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522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80"/>
                </a:solidFill>
                <a:latin typeface="Calibri"/>
              </a:rPr>
              <a:t>🔵 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4032" y="5522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Cover letter auto-generator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JobPilot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7860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D4F1"/>
                </a:solidFill>
                <a:latin typeface="Calibri"/>
              </a:rPr>
              <a:t>Autonomous AI Job Hunting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46120"/>
            <a:ext cx="11274552" cy="50800"/>
          </a:xfrm>
          <a:prstGeom prst="rect">
            <a:avLst/>
          </a:prstGeom>
          <a:solidFill>
            <a:srgbClr val="00A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B4D1"/>
                </a:solidFill>
                <a:latin typeface="Calibri"/>
              </a:rPr>
              <a:t>Built with: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• FastAPI +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422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• LiteLLM (provider-agnostic)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970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• Playwright + browser-use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3717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• sentence-transformers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846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E8F8"/>
                </a:solidFill>
                <a:latin typeface="Calibri"/>
              </a:rPr>
              <a:t>• FastMCP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A0C0"/>
                </a:solidFill>
                <a:latin typeface="Calibri"/>
              </a:rPr>
              <a:t>Rohit
Data Scientist  |  AI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914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2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Multi-agent system — specialized agents for each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2103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Browser automation — opens real sites, no API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2" y="2697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ML matching — 4-signal semantic scoring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✉️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3291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Personalized outreach — LLM writes unique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Human approval — zero sends without your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80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4480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100% local — SQLite, ChromaDB, Playwright on your laptop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Provider-agnostic — swap LLMs with one .env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692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latin typeface="Calibri"/>
              </a:rPr>
              <a:t>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56692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MCP server — Claude Desktop integration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